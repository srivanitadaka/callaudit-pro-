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7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2657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5847962" y="0"/>
            <a:ext cx="3296037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772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CallAudit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365760" y="24231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4A3B8"/>
                </a:solidFill>
              </a:rPr>
              <a:t>AI-Powered Customer Support Quality Auditor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65760" y="2971800"/>
            <a:ext cx="1463040" cy="292608"/>
          </a:xfrm>
          <a:prstGeom prst="rect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9718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8BDF8"/>
                </a:solidFill>
              </a:rPr>
              <a:t>RAG Pipeline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38528" y="2971800"/>
            <a:ext cx="1463040" cy="292608"/>
          </a:xfrm>
          <a:prstGeom prst="rect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38528" y="29718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8BDF8"/>
                </a:solidFill>
              </a:rPr>
              <a:t>LangChain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511296" y="2971800"/>
            <a:ext cx="1463040" cy="292608"/>
          </a:xfrm>
          <a:prstGeom prst="rect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11296" y="29718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8BDF8"/>
                </a:solidFill>
              </a:rPr>
              <a:t>Groq LLM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84064" y="2988589"/>
            <a:ext cx="1463040" cy="292608"/>
          </a:xfrm>
          <a:prstGeom prst="rect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84064" y="29718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8BDF8"/>
                </a:solidFill>
              </a:rPr>
              <a:t>4 Vector DBs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656832" y="2971800"/>
            <a:ext cx="1463040" cy="292608"/>
          </a:xfrm>
          <a:prstGeom prst="rect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56832" y="29718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8BDF8"/>
                </a:solidFill>
              </a:rPr>
              <a:t>Real-Time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26480" y="520159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</a:rPr>
              <a:t>▸  Groq llama-3.3-70b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17337" y="1093383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</a:rPr>
              <a:t>▸  LangChain + RAG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17337" y="1559727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</a:rPr>
              <a:t>▸  Deepgram Nova-2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26480" y="204301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</a:rPr>
              <a:t>▸  ChromaDB / Pinecone / FAISS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39374" y="250545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</a:rPr>
              <a:t>▸  Flask + Streamlit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891B2"/>
                </a:solidFill>
              </a:rPr>
              <a:t>PROJECT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is CallAudit Pro?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840480" cy="2560320"/>
          </a:xfrm>
          <a:prstGeom prst="rect">
            <a:avLst/>
          </a:prstGeom>
          <a:solidFill>
            <a:srgbClr val="1A0A0A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87171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✕  Manual QA is slow &amp; inconsistent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1854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✕  Compliance violations go undetected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5420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✕  No real-time feedback for agents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8986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✕  Supervisors lack analytics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25526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✕  Huge QA workload for managers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4023360" cy="2560320"/>
          </a:xfrm>
          <a:prstGeom prst="rect">
            <a:avLst/>
          </a:prstGeom>
          <a:solidFill>
            <a:srgbClr val="0A1A12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C55E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✔  Auto-transcribe calls with Deepgram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1854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✔  AI scoring with Groq llama-3.3-70b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2542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✔  RAG pipeline for context-aware audits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8986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✔  Real-time violation alerts (in-app + email)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325526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✔  PDF, Excel reports &amp; live dashboards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069080"/>
            <a:ext cx="1920240" cy="731520"/>
          </a:xfrm>
          <a:prstGeom prst="rect">
            <a:avLst/>
          </a:prstGeom>
          <a:solidFill>
            <a:srgbClr val="0D1320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1148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7200" y="44622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Quality Dimensions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60320" y="4069080"/>
            <a:ext cx="1920240" cy="731520"/>
          </a:xfrm>
          <a:prstGeom prst="rect">
            <a:avLst/>
          </a:prstGeom>
          <a:solidFill>
            <a:srgbClr val="0D1320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0" y="41148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560320" y="44622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Vector DB Backends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4069080"/>
            <a:ext cx="1920240" cy="731520"/>
          </a:xfrm>
          <a:prstGeom prst="rect">
            <a:avLst/>
          </a:prstGeom>
          <a:solidFill>
            <a:srgbClr val="0D1320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41148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</a:rPr>
              <a:t>Real-Time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663440" y="44622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Alerts &amp; Scoring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766560" y="4069080"/>
            <a:ext cx="1920240" cy="731520"/>
          </a:xfrm>
          <a:prstGeom prst="rect">
            <a:avLst/>
          </a:prstGeom>
          <a:solidFill>
            <a:srgbClr val="0D1320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0" y="41148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</a:rPr>
              <a:t>PDF+XLS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766560" y="44622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Report Exports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891B2"/>
                </a:solidFill>
              </a:rPr>
              <a:t>PROJECT MILESTONES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Agile Delivery — 8 Weeks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057400" cy="3566160"/>
          </a:xfrm>
          <a:prstGeom prst="rect">
            <a:avLst/>
          </a:prstGeom>
          <a:solidFill>
            <a:srgbClr val="0D1320"/>
          </a:solidFill>
          <a:ln w="190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20574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3258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91B2"/>
                </a:solidFill>
              </a:rPr>
              <a:t>M1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138988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Weeks 1–2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171907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Setup &amp; Transcription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19456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• Deepgram Nova-2 audio transcription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63347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• Chat/text transcript processing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3072384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• JSON schema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3511296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• Dataset generation (40 sample calls)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14600" y="1234440"/>
            <a:ext cx="2057400" cy="3566160"/>
          </a:xfrm>
          <a:prstGeom prst="rect">
            <a:avLst/>
          </a:prstGeom>
          <a:solidFill>
            <a:srgbClr val="0D1320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14600" y="1234440"/>
            <a:ext cx="205740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8" name="Text 16"/>
          <p:cNvSpPr/>
          <p:nvPr/>
        </p:nvSpPr>
        <p:spPr>
          <a:xfrm>
            <a:off x="2606040" y="13258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C55E"/>
                </a:solidFill>
              </a:rPr>
              <a:t>M2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063240" y="138988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Weeks 3–4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606040" y="171907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LLM Scoring Engine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06040" y="219456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• Groq llama-3.3-70b integration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606040" y="263347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• 5-dimension quality scoring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606040" y="3072384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• Violation detection with severity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606040" y="3511296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• LangChain PromptTemplate pipeline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09160" y="1234440"/>
            <a:ext cx="2057400" cy="3566160"/>
          </a:xfrm>
          <a:prstGeom prst="rect">
            <a:avLst/>
          </a:prstGeom>
          <a:solidFill>
            <a:srgbClr val="0D1320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1234440"/>
            <a:ext cx="20574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13258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</a:rPr>
              <a:t>M3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257800" y="138988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Weeks 5–6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00600" y="171907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RAG &amp; Dashboards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00600" y="219456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• FAISS + ChromaDB + Pinecone + Milvus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00600" y="263347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• RAG pipeline with KB (14 entries)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00600" y="3072384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• Flask dashboard + Streamlit supervisor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00600" y="3511296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• Team analytics and leaderboards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903720" y="1234440"/>
            <a:ext cx="2057400" cy="3566160"/>
          </a:xfrm>
          <a:prstGeom prst="rect">
            <a:avLst/>
          </a:prstGeom>
          <a:solidFill>
            <a:srgbClr val="0D1320"/>
          </a:solidFill>
          <a:ln w="19050">
            <a:solidFill>
              <a:srgbClr val="FB92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903720" y="1234440"/>
            <a:ext cx="2057400" cy="54864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40" name="Text 38"/>
          <p:cNvSpPr/>
          <p:nvPr/>
        </p:nvSpPr>
        <p:spPr>
          <a:xfrm>
            <a:off x="6995160" y="13258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B923C"/>
                </a:solidFill>
              </a:rPr>
              <a:t>M4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7452360" y="138988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Weeks 7–8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995160" y="171907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Alerts &amp; Deployment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995160" y="219456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• Compliance alerts (in-app + email)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995160" y="263347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• PDF reports (ReportLab)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995160" y="3072384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• Excel export (5 sheets, OpenPyXL)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995160" y="3511296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• Live call monitoring + Streamlit Cloud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891B2"/>
                </a:solidFill>
              </a:rPr>
              <a:t>SYSTEM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End-to-End Pipeline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1325880" cy="2286000"/>
          </a:xfrm>
          <a:prstGeom prst="rect">
            <a:avLst/>
          </a:prstGeom>
          <a:solidFill>
            <a:srgbClr val="0D132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25880"/>
            <a:ext cx="13258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44475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891B2"/>
                </a:solidFill>
              </a:rPr>
              <a:t>INGEST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93192" y="182880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Audio .mp3/.wav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93192" y="219456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Text .txt/.json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645920" y="2468880"/>
            <a:ext cx="10972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55648" y="1325880"/>
            <a:ext cx="1325880" cy="2286000"/>
          </a:xfrm>
          <a:prstGeom prst="rect">
            <a:avLst/>
          </a:prstGeom>
          <a:solidFill>
            <a:srgbClr val="0D1320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55648" y="1325880"/>
            <a:ext cx="132588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1755648" y="144475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6B6D4"/>
                </a:solidFill>
              </a:rPr>
              <a:t>TRANSCRIBE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28800" y="182880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Deepgram Nova-2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828800" y="219456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1275+ chars/call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081528" y="2468880"/>
            <a:ext cx="10972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91256" y="1325880"/>
            <a:ext cx="1325880" cy="2286000"/>
          </a:xfrm>
          <a:prstGeom prst="rect">
            <a:avLst/>
          </a:prstGeom>
          <a:solidFill>
            <a:srgbClr val="0D132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91256" y="1325880"/>
            <a:ext cx="132588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3191256" y="144475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7C3AED"/>
                </a:solidFill>
              </a:rPr>
              <a:t>RAG ENRICH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64408" y="182880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Similar calls (FAISS)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64408" y="219456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KB policy rules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17136" y="2468880"/>
            <a:ext cx="10972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26864" y="1325880"/>
            <a:ext cx="1325880" cy="2286000"/>
          </a:xfrm>
          <a:prstGeom prst="rect">
            <a:avLst/>
          </a:prstGeom>
          <a:solidFill>
            <a:srgbClr val="0D132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26864" y="1325880"/>
            <a:ext cx="132588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4626864" y="144475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8B5CF6"/>
                </a:solidFill>
              </a:rPr>
              <a:t>LLM SCORE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00016" y="182880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LangChain chain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00016" y="219456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Groq llama-70b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952744" y="2468880"/>
            <a:ext cx="10972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62472" y="1325880"/>
            <a:ext cx="1325880" cy="2286000"/>
          </a:xfrm>
          <a:prstGeom prst="rect">
            <a:avLst/>
          </a:prstGeom>
          <a:solidFill>
            <a:srgbClr val="0D1320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62472" y="1325880"/>
            <a:ext cx="1325880" cy="54864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1" name="Text 29"/>
          <p:cNvSpPr/>
          <p:nvPr/>
        </p:nvSpPr>
        <p:spPr>
          <a:xfrm>
            <a:off x="6062472" y="144475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B923C"/>
                </a:solidFill>
              </a:rPr>
              <a:t>ALERT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135624" y="182880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In-app badges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135624" y="219456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Gmail SMTP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388352" y="2468880"/>
            <a:ext cx="10972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98080" y="1325880"/>
            <a:ext cx="1325880" cy="2286000"/>
          </a:xfrm>
          <a:prstGeom prst="rect">
            <a:avLst/>
          </a:prstGeom>
          <a:solidFill>
            <a:srgbClr val="0D132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98080" y="1325880"/>
            <a:ext cx="132588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7" name="Text 35"/>
          <p:cNvSpPr/>
          <p:nvPr/>
        </p:nvSpPr>
        <p:spPr>
          <a:xfrm>
            <a:off x="7498080" y="144475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22C55E"/>
                </a:solidFill>
              </a:rPr>
              <a:t>REPORT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571232" y="182880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PDF / Excel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571232" y="219456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Dashboard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720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Vector Database Layer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7200" y="4114800"/>
            <a:ext cx="1920240" cy="658368"/>
          </a:xfrm>
          <a:prstGeom prst="rect">
            <a:avLst/>
          </a:prstGeom>
          <a:solidFill>
            <a:srgbClr val="0D132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1422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91B2"/>
                </a:solidFill>
              </a:rPr>
              <a:t>FAISS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57200" y="44348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Local / Fast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560320" y="4114800"/>
            <a:ext cx="1920240" cy="658368"/>
          </a:xfrm>
          <a:prstGeom prst="rect">
            <a:avLst/>
          </a:prstGeom>
          <a:solidFill>
            <a:srgbClr val="0D132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60320" y="41422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</a:rPr>
              <a:t>ChromaDB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2560320" y="44348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Persistent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63440" y="4114800"/>
            <a:ext cx="1920240" cy="658368"/>
          </a:xfrm>
          <a:prstGeom prst="rect">
            <a:avLst/>
          </a:prstGeom>
          <a:solidFill>
            <a:srgbClr val="0D1320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63440" y="41422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B6D4"/>
                </a:solidFill>
              </a:rPr>
              <a:t>Pinecone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663440" y="44348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Cloud ☁️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766560" y="4114800"/>
            <a:ext cx="1920240" cy="658368"/>
          </a:xfrm>
          <a:prstGeom prst="rect">
            <a:avLst/>
          </a:prstGeom>
          <a:solidFill>
            <a:srgbClr val="0D132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66560" y="41422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Milvus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766560" y="44348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Enterprise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891B2"/>
                </a:solidFill>
              </a:rPr>
              <a:t>RAG PIPELINE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Retrieval-Augmented Generation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3474720" cy="3474720"/>
          </a:xfrm>
          <a:prstGeom prst="rect">
            <a:avLst/>
          </a:prstGeom>
          <a:solidFill>
            <a:srgbClr val="0A10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6B6D4"/>
                </a:solidFill>
              </a:rPr>
              <a:t>INDEXING PHASE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1.  40 sample call transcripts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30428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2.  14 Knowledge Base policy rules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779776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3.  BGE-small-en-v1.5 embeddings (384-dim)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255264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4.  Stored in ChromaDB / Pinecone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730752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5.  2 collections: scored_calls + knowledge_base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234440"/>
            <a:ext cx="4206240" cy="3474720"/>
          </a:xfrm>
          <a:prstGeom prst="rect">
            <a:avLst/>
          </a:prstGeom>
          <a:solidFill>
            <a:srgbClr val="0A10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B5CF6"/>
                </a:solidFill>
              </a:rPr>
              <a:t>QUERY PHASE (per call)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847088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847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120640" y="182880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New transcript arrives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276856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22768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120640" y="225856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Embed with BGE model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706624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2706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120640" y="268833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Search: top-3 similar past calls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136392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31363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120640" y="311810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Search: top-3 relevant KB rules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566160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3566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20640" y="354787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Inject context into LangChain prompt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995928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3995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120640" y="39776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Groq scores enriched prompt → JSON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840480" y="2926080"/>
            <a:ext cx="73152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31920" y="27432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891B2"/>
                </a:solidFill>
              </a:rPr>
              <a:t>→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891B2"/>
                </a:solidFill>
              </a:rPr>
              <a:t>LLM SCORING ENGINE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LangChain + Groq Quality Assessment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560320" cy="685800"/>
          </a:xfrm>
          <a:prstGeom prst="rect">
            <a:avLst/>
          </a:prstGeom>
          <a:solidFill>
            <a:srgbClr val="0D1320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533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PromptTemplate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91B2"/>
                </a:solidFill>
              </a:rPr>
              <a:t>transcript + context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17520" y="146304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C3AED"/>
                </a:solidFill>
              </a:rPr>
              <a:t>|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37560" y="1280160"/>
            <a:ext cx="2560320" cy="685800"/>
          </a:xfrm>
          <a:prstGeom prst="rect">
            <a:avLst/>
          </a:prstGeom>
          <a:solidFill>
            <a:srgbClr val="0D1320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13533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ChatGroq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6642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91B2"/>
                </a:solidFill>
              </a:rPr>
              <a:t>llama-3.3-70b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97880" y="146304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C3AED"/>
                </a:solidFill>
              </a:rPr>
              <a:t>|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217920" y="1280160"/>
            <a:ext cx="2560320" cy="685800"/>
          </a:xfrm>
          <a:prstGeom prst="rect">
            <a:avLst/>
          </a:prstGeom>
          <a:solidFill>
            <a:srgbClr val="0D1320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13533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StrOutputParser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16642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91B2"/>
                </a:solidFill>
              </a:rPr>
              <a:t>JSON extraction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2128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 Quality Dimensions Scored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651760"/>
            <a:ext cx="2560320" cy="640080"/>
          </a:xfrm>
          <a:prstGeom prst="rect">
            <a:avLst/>
          </a:prstGeom>
          <a:solidFill>
            <a:srgbClr val="0D1320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51760"/>
            <a:ext cx="54864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6974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Empathy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06040" y="269748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891B2"/>
                </a:solidFill>
              </a:rPr>
              <a:t>0–10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2971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Emotional acknowledgment, validation phrases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46120" y="2651760"/>
            <a:ext cx="2560320" cy="640080"/>
          </a:xfrm>
          <a:prstGeom prst="rect">
            <a:avLst/>
          </a:prstGeom>
          <a:solidFill>
            <a:srgbClr val="0D1320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46120" y="2651760"/>
            <a:ext cx="54864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3383280" y="26974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Professionalism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94960" y="269748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891B2"/>
                </a:solidFill>
              </a:rPr>
              <a:t>0–10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83280" y="2971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Language quality, tone, policy adherence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35040" y="2651760"/>
            <a:ext cx="2560320" cy="640080"/>
          </a:xfrm>
          <a:prstGeom prst="rect">
            <a:avLst/>
          </a:prstGeom>
          <a:solidFill>
            <a:srgbClr val="0D1320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35040" y="2651760"/>
            <a:ext cx="54864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9" name="Text 27"/>
          <p:cNvSpPr/>
          <p:nvPr/>
        </p:nvSpPr>
        <p:spPr>
          <a:xfrm>
            <a:off x="6172200" y="26974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Compliance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183880" y="269748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891B2"/>
                </a:solidFill>
              </a:rPr>
              <a:t>0–10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72200" y="2971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Policy rule violations, GDPR, escalation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3383280"/>
            <a:ext cx="2560320" cy="640080"/>
          </a:xfrm>
          <a:prstGeom prst="rect">
            <a:avLst/>
          </a:prstGeom>
          <a:solidFill>
            <a:srgbClr val="0D1320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383280"/>
            <a:ext cx="54864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" y="34290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Resolution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606040" y="342900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891B2"/>
                </a:solidFill>
              </a:rPr>
              <a:t>0–10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94360" y="37033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Issue resolved, next steps provided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46120" y="3383280"/>
            <a:ext cx="2560320" cy="640080"/>
          </a:xfrm>
          <a:prstGeom prst="rect">
            <a:avLst/>
          </a:prstGeom>
          <a:solidFill>
            <a:srgbClr val="0D1320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46120" y="3383280"/>
            <a:ext cx="54864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9" name="Text 37"/>
          <p:cNvSpPr/>
          <p:nvPr/>
        </p:nvSpPr>
        <p:spPr>
          <a:xfrm>
            <a:off x="3383280" y="34290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Clarity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94960" y="342900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891B2"/>
                </a:solidFill>
              </a:rPr>
              <a:t>0–10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383280" y="37033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Communication effectiveness, understanding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Grade Scale  →  A: 90–100  |  B: 75–89  |  C: 60–74  |  D: 45–59  |  F: 0–44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891B2"/>
                </a:solidFill>
              </a:rPr>
              <a:t>FEATURES &amp; CAPABILITIES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CallAudit Pro Can Do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206240" cy="1097280"/>
          </a:xfrm>
          <a:prstGeom prst="rect">
            <a:avLst/>
          </a:prstGeom>
          <a:solidFill>
            <a:srgbClr val="0D1320"/>
          </a:solidFill>
          <a:ln w="1016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64008" cy="10972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435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🎙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78992" y="143560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Audio Transcription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78992" y="1746504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mp3, wav, m4a files via Deepgram Nova-2. 95%+ accuracy. Structured speaker labels.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1325880"/>
            <a:ext cx="4206240" cy="1097280"/>
          </a:xfrm>
          <a:prstGeom prst="rect">
            <a:avLst/>
          </a:prstGeom>
          <a:solidFill>
            <a:srgbClr val="0D1320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1325880"/>
            <a:ext cx="64008" cy="10972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435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13832" y="143560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Quality Scoring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13832" y="1746504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5-dimension LLM scoring. Grade A–F. Violations with severity levels.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560320"/>
            <a:ext cx="4206240" cy="1097280"/>
          </a:xfrm>
          <a:prstGeom prst="rect">
            <a:avLst/>
          </a:prstGeom>
          <a:solidFill>
            <a:srgbClr val="0D1320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560320"/>
            <a:ext cx="64008" cy="10972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670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78992" y="267004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RAG Context Retrieval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78992" y="2980944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Similar past calls + 14 KB policy rules injected into every scoring request.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2560320"/>
            <a:ext cx="4206240" cy="1097280"/>
          </a:xfrm>
          <a:prstGeom prst="rect">
            <a:avLst/>
          </a:prstGeom>
          <a:solidFill>
            <a:srgbClr val="0D1320"/>
          </a:solidFill>
          <a:ln w="10160">
            <a:solidFill>
              <a:srgbClr val="F8717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2560320"/>
            <a:ext cx="64008" cy="109728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2670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🚨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13832" y="267004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Compliance Alerts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13832" y="2980944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Auto-fire on score &lt; 40 or CRITICAL violations. In-app + Gmail email alerts.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794760"/>
            <a:ext cx="4206240" cy="1097280"/>
          </a:xfrm>
          <a:prstGeom prst="rect">
            <a:avLst/>
          </a:prstGeom>
          <a:solidFill>
            <a:srgbClr val="0D1320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794760"/>
            <a:ext cx="64008" cy="10972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3904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078992" y="390448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Supervisor Dashboard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78992" y="4215384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Team analytics, grade breakdown, score trends, violation pie charts, leaderboard.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3794760"/>
            <a:ext cx="4206240" cy="1097280"/>
          </a:xfrm>
          <a:prstGeom prst="rect">
            <a:avLst/>
          </a:prstGeom>
          <a:solidFill>
            <a:srgbClr val="0D1320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00600" y="3794760"/>
            <a:ext cx="64008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3904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513832" y="390448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Reports Export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13832" y="4215384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PDF per call (ReportLab). Excel 5-sheet export (OpenPyXL). JSON download.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891B2"/>
                </a:solidFill>
              </a:rPr>
              <a:t>TECHNOLOGY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Complete Technology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743200" cy="1691640"/>
          </a:xfrm>
          <a:prstGeom prst="rect">
            <a:avLst/>
          </a:prstGeom>
          <a:solidFill>
            <a:srgbClr val="0D132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25880"/>
            <a:ext cx="27432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" y="14356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AI &amp; LLM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17830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› Groq API — llama-3.3-70b-versatile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29768" y="20848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› LangChain — PromptTemplate | Chain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9768" y="238658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› BGE-small-en-v1.5 — 384-dim embeddings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9768" y="268833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› LangChain Groq + StrOutputParser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46120" y="1325880"/>
            <a:ext cx="2743200" cy="1691640"/>
          </a:xfrm>
          <a:prstGeom prst="rect">
            <a:avLst/>
          </a:prstGeom>
          <a:solidFill>
            <a:srgbClr val="0D132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325880"/>
            <a:ext cx="27432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3355848" y="14356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</a:rPr>
              <a:t>Transcription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55848" y="17830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› Deepgram Nova-2 REST API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55848" y="20848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› pyaudio — mic capture (16kHz)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55848" y="238658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› chunk-based streaming (5s chunks)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55848" y="268833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› Multi-format: mp3/wav/m4a/flac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95060" y="3142013"/>
            <a:ext cx="2743200" cy="1691640"/>
          </a:xfrm>
          <a:prstGeom prst="rect">
            <a:avLst/>
          </a:prstGeom>
          <a:solidFill>
            <a:srgbClr val="0D1320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3154680"/>
            <a:ext cx="27432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1" name="Text 19"/>
          <p:cNvSpPr/>
          <p:nvPr/>
        </p:nvSpPr>
        <p:spPr>
          <a:xfrm>
            <a:off x="6281928" y="32644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</a:rPr>
              <a:t>Vector Databases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81928" y="36118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› FAISS — local in-memory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81928" y="39136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› ChromaDB — local persistent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281928" y="421538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› Pinecone — cloud serverless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81928" y="451713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› Milvus — enterprise (mock on Windows)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3154680"/>
            <a:ext cx="2743200" cy="1691640"/>
          </a:xfrm>
          <a:prstGeom prst="rect">
            <a:avLst/>
          </a:prstGeom>
          <a:solidFill>
            <a:srgbClr val="0D132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3154680"/>
            <a:ext cx="274320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8" name="Text 26"/>
          <p:cNvSpPr/>
          <p:nvPr/>
        </p:nvSpPr>
        <p:spPr>
          <a:xfrm>
            <a:off x="429768" y="32644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</a:rPr>
              <a:t>Backend &amp; APIs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29768" y="36118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› Flask + Waitress (WSGI)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29768" y="39136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› Streamlit (supervisor + live)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29768" y="421538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› ReportLab (PDF generation)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29768" y="451713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› OpenPyXL (Excel 5-sheet export)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67628" y="1333975"/>
            <a:ext cx="2743200" cy="1691640"/>
          </a:xfrm>
          <a:prstGeom prst="rect">
            <a:avLst/>
          </a:prstGeom>
          <a:solidFill>
            <a:srgbClr val="0D1320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72200" y="1338172"/>
            <a:ext cx="2743200" cy="54864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5" name="Text 33"/>
          <p:cNvSpPr/>
          <p:nvPr/>
        </p:nvSpPr>
        <p:spPr>
          <a:xfrm>
            <a:off x="6309360" y="138074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923C"/>
                </a:solidFill>
              </a:rPr>
              <a:t>Frontend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81928" y="16733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› HTML5 + CSS3 + Vanilla JS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309360" y="1928859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› Plotly (charts in Streamlit)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309360" y="2521569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› Fetch API (AJAX calls)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309360" y="220265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› WebSocket (live monitor)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300984" y="3182112"/>
            <a:ext cx="2743200" cy="1691640"/>
          </a:xfrm>
          <a:prstGeom prst="rect">
            <a:avLst/>
          </a:prstGeom>
          <a:solidFill>
            <a:srgbClr val="0D132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00984" y="3191256"/>
            <a:ext cx="27432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2" name="Text 40"/>
          <p:cNvSpPr/>
          <p:nvPr/>
        </p:nvSpPr>
        <p:spPr>
          <a:xfrm>
            <a:off x="3415284" y="322468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Alerts &amp; Infra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371850" y="351744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› Gmail SMTP (email alerts)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371850" y="3713513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› python-dotenv (config)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371850" y="394106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› ChromaDB chroma_db/ folder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371850" y="421538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› Pinecone serverless index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891B2"/>
                </a:solidFill>
              </a:rPr>
              <a:t>DEMO WALKTHROUGH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How It Works — Step by Step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743200" cy="1691640"/>
          </a:xfrm>
          <a:prstGeom prst="rect">
            <a:avLst/>
          </a:prstGeom>
          <a:solidFill>
            <a:srgbClr val="0D1320"/>
          </a:solidFill>
          <a:ln w="1524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9768" y="1435608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78408" y="14630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Upload Call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" y="201168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Drag &amp; drop mp3/wav audio or paste transcript text into Flask dashboard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325880"/>
            <a:ext cx="2743200" cy="1691640"/>
          </a:xfrm>
          <a:prstGeom prst="rect">
            <a:avLst/>
          </a:prstGeom>
          <a:solidFill>
            <a:srgbClr val="0D1320"/>
          </a:solidFill>
          <a:ln w="1524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55848" y="1435608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3355848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04488" y="14630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Transcription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55848" y="201168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Deepgram Nova-2 converts audio to structured text with speaker labels in seconds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72200" y="1325880"/>
            <a:ext cx="2743200" cy="1691640"/>
          </a:xfrm>
          <a:prstGeom prst="rect">
            <a:avLst/>
          </a:prstGeom>
          <a:solidFill>
            <a:srgbClr val="0D1320"/>
          </a:solidFill>
          <a:ln w="1524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81928" y="1435608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6281928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30568" y="14630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RAG Enrichment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81928" y="201168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3 similar past calls + 3 KB policy rules automatically injected into the prompt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154680"/>
            <a:ext cx="2743200" cy="1691640"/>
          </a:xfrm>
          <a:prstGeom prst="rect">
            <a:avLst/>
          </a:prstGeom>
          <a:solidFill>
            <a:srgbClr val="0D1320"/>
          </a:solidFill>
          <a:ln w="1524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9768" y="3264408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429768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78408" y="32918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Scoring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9768" y="384048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LangChain PromptTemplate → ChatGroq → StrOutputParser → structured JSON output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46120" y="3154680"/>
            <a:ext cx="2743200" cy="1691640"/>
          </a:xfrm>
          <a:prstGeom prst="rect">
            <a:avLst/>
          </a:prstGeom>
          <a:solidFill>
            <a:srgbClr val="0D1320"/>
          </a:solidFill>
          <a:ln w="15240">
            <a:solidFill>
              <a:srgbClr val="FB92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55848" y="3264408"/>
            <a:ext cx="457200" cy="45720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27" name="Text 25"/>
          <p:cNvSpPr/>
          <p:nvPr/>
        </p:nvSpPr>
        <p:spPr>
          <a:xfrm>
            <a:off x="3355848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904488" y="32918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Alert &amp; Save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55848" y="384048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If score &lt; 60 or violation detected → in-app badge + email sent to supervisor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72200" y="3154680"/>
            <a:ext cx="2743200" cy="1691640"/>
          </a:xfrm>
          <a:prstGeom prst="rect">
            <a:avLst/>
          </a:prstGeom>
          <a:solidFill>
            <a:srgbClr val="0D1320"/>
          </a:solidFill>
          <a:ln w="1524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81928" y="3264408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2" name="Text 30"/>
          <p:cNvSpPr/>
          <p:nvPr/>
        </p:nvSpPr>
        <p:spPr>
          <a:xfrm>
            <a:off x="6281928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30568" y="32918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Dashboard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81928" y="384048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Full results: grade, score, dimensions, violations, improvements, PDF download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891B2"/>
                </a:solidFill>
              </a:rPr>
              <a:t>RESULTS &amp; OUTCOMES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Was Achieved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1920240" cy="1005840"/>
          </a:xfrm>
          <a:prstGeom prst="rect">
            <a:avLst/>
          </a:prstGeom>
          <a:solidFill>
            <a:srgbClr val="0D1320"/>
          </a:solidFill>
          <a:ln w="1524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891B2"/>
                </a:solidFill>
              </a:rPr>
              <a:t>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Vector DB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Backends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325880"/>
            <a:ext cx="1920240" cy="1005840"/>
          </a:xfrm>
          <a:prstGeom prst="rect">
            <a:avLst/>
          </a:prstGeom>
          <a:solidFill>
            <a:srgbClr val="0D1320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1371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7C3AED"/>
                </a:solidFill>
              </a:rPr>
              <a:t>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468880" y="18745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Quality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Dimensions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325880"/>
            <a:ext cx="1920240" cy="1005840"/>
          </a:xfrm>
          <a:prstGeom prst="rect">
            <a:avLst/>
          </a:prstGeom>
          <a:solidFill>
            <a:srgbClr val="0D1320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371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2C55E"/>
                </a:solidFill>
              </a:rPr>
              <a:t>14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572000" y="18745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KB Policy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Rules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75120" y="1325880"/>
            <a:ext cx="1920240" cy="1005840"/>
          </a:xfrm>
          <a:prstGeom prst="rect">
            <a:avLst/>
          </a:prstGeom>
          <a:solidFill>
            <a:srgbClr val="0D1320"/>
          </a:solidFill>
          <a:ln w="15240">
            <a:solidFill>
              <a:srgbClr val="FB92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1371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B923C"/>
                </a:solidFill>
              </a:rPr>
              <a:t>100%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675120" y="18745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Milestones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Completed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560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Project Outcomes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294436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✅  Automated analysis of chat and call transcripts — both audio and text formats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2826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✅  LLM-based scoring across 5 quality metrics with Grade A–F and 0–100 scoring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62102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✅  Real-time compliance breach detection with in-app badges and email alerts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95935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✅  RAG-powered contextual feedback using 4 vector DB backends and 14 KB rules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2976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✅  Supervisor dashboard with team analytics, leaderboard, trend charts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63600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✅  PDF + Excel reporting, live monitor, and Streamlit Cloud deployment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996845" y="1734362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</a:rPr>
              <a:t>Thank You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1911245" y="2811405"/>
            <a:ext cx="5486400" cy="0"/>
          </a:xfrm>
          <a:prstGeom prst="line">
            <a:avLst/>
          </a:prstGeom>
          <a:noFill/>
          <a:ln w="6350">
            <a:solidFill>
              <a:srgbClr val="0891B2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997</Words>
  <Application>Microsoft Office PowerPoint</Application>
  <PresentationFormat>On-screen Show (16:9)</PresentationFormat>
  <Paragraphs>248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CallAudit Pro — AI Customer Support Quality Auditor</dc:title>
  <dc:subject>PptxGenJS Presentation</dc:subject>
  <dc:creator>PptxGenJS</dc:creator>
  <cp:lastModifiedBy>hi</cp:lastModifiedBy>
  <cp:revision>5</cp:revision>
  <dcterms:created xsi:type="dcterms:W3CDTF">2026-03-25T08:55:30Z</dcterms:created>
  <dcterms:modified xsi:type="dcterms:W3CDTF">2026-03-26T10:52:23Z</dcterms:modified>
</cp:coreProperties>
</file>